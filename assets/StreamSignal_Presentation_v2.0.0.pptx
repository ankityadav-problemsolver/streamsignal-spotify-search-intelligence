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7.xml" ContentType="application/vnd.openxmlformats-officedocument.presentationml.notesSlide+xml"/>
  <Override PartName="/ppt/charts/chart8.xml" ContentType="application/vnd.openxmlformats-officedocument.drawingml.chart+xml"/>
  <Override PartName="/ppt/notesSlides/notesSlide8.xml" ContentType="application/vnd.openxmlformats-officedocument.presentationml.notesSlide+xml"/>
  <Override PartName="/ppt/charts/chart9.xml" ContentType="application/vnd.openxmlformats-officedocument.drawingml.chart+xml"/>
  <Override PartName="/ppt/notesSlides/notesSlide9.xml" ContentType="application/vnd.openxmlformats-officedocument.presentationml.notesSlide+xml"/>
  <Override PartName="/ppt/charts/chart10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8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5E7E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5E7EB"/>
                </a:solidFill>
                <a:latin typeface="Arial"/>
              </a:rPr>
              <a:t>Annual Search Volume (Millions)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Volume (M)</c:v>
                </c:pt>
              </c:strCache>
            </c:strRef>
          </c:tx>
          <c:spPr>
            <a:solidFill>
              <a:srgbClr val="1DB95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2840</c:v>
                </c:pt>
                <c:pt idx="1">
                  <c:v>3210</c:v>
                </c:pt>
                <c:pt idx="2">
                  <c:v>3580</c:v>
                </c:pt>
                <c:pt idx="3">
                  <c:v>3920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BF-40EE-9EEF-843F5B134C3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7415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F293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5E7E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5E7EB"/>
                </a:solidFill>
                <a:latin typeface="Arial"/>
              </a:rPr>
              <a:t>YoY Growth Rate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YoY Growth %</c:v>
                </c:pt>
              </c:strCache>
            </c:strRef>
          </c:tx>
          <c:spPr>
            <a:ln w="38100" cap="flat">
              <a:solidFill>
                <a:srgbClr val="F9731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2022→23</c:v>
                </c:pt>
                <c:pt idx="1">
                  <c:v>2023→24</c:v>
                </c:pt>
                <c:pt idx="2">
                  <c:v>2024→25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</c:v>
                </c:pt>
                <c:pt idx="1">
                  <c:v>11.5</c:v>
                </c:pt>
                <c:pt idx="2">
                  <c:v>9.5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03A-44D8-B8AC-1501CAD706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7415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F293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5E7E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5E7EB"/>
                </a:solidFill>
                <a:latin typeface="Arial"/>
              </a:rPr>
              <a:t>YoY Growth Rate by Theme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Brand</c:v>
                </c:pt>
              </c:strCache>
            </c:strRef>
          </c:tx>
          <c:spPr>
            <a:solidFill>
              <a:srgbClr val="1DB95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2022→23</c:v>
                </c:pt>
                <c:pt idx="1">
                  <c:v>2023→24</c:v>
                </c:pt>
                <c:pt idx="2">
                  <c:v>2024→25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7.4</c:v>
                </c:pt>
                <c:pt idx="2">
                  <c:v>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E4-4E8D-9D1C-406592C2CC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2022→23</c:v>
                </c:pt>
                <c:pt idx="1">
                  <c:v>2023→24</c:v>
                </c:pt>
                <c:pt idx="2">
                  <c:v>2024→25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17.3</c:v>
                </c:pt>
                <c:pt idx="1">
                  <c:v>15.8</c:v>
                </c:pt>
                <c:pt idx="2">
                  <c:v>13.2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1E4-4E8D-9D1C-406592C2CC8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Competition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2022→23</c:v>
                </c:pt>
                <c:pt idx="1">
                  <c:v>2023→24</c:v>
                </c:pt>
                <c:pt idx="2">
                  <c:v>2024→25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4.0999999999999996</c:v>
                </c:pt>
                <c:pt idx="1">
                  <c:v>2.8</c:v>
                </c:pt>
                <c:pt idx="2">
                  <c:v>-1.4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1E4-4E8D-9D1C-406592C2CC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7415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1F2937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E5E7E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E5E7EB"/>
                </a:solidFill>
                <a:latin typeface="Arial"/>
              </a:rPr>
              <a:t>Top Sub-types by Avg Monthly Volume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Monthly Volume (M)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146-4D5C-9F43-897B394C9B5F}"/>
              </c:ext>
            </c:extLst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146-4D5C-9F43-897B394C9B5F}"/>
              </c:ext>
            </c:extLst>
          </c:dPt>
          <c:dPt>
            <c:idx val="2"/>
            <c:invertIfNegative val="0"/>
            <c:bubble3D val="0"/>
            <c:spPr>
              <a:solidFill>
                <a:srgbClr val="1DB95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146-4D5C-9F43-897B394C9B5F}"/>
              </c:ext>
            </c:extLst>
          </c:dPt>
          <c:dPt>
            <c:idx val="3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146-4D5C-9F43-897B394C9B5F}"/>
              </c:ext>
            </c:extLst>
          </c:dPt>
          <c:dPt>
            <c:idx val="4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146-4D5C-9F43-897B394C9B5F}"/>
              </c:ext>
            </c:extLst>
          </c:dPt>
          <c:dPt>
            <c:idx val="5"/>
            <c:invertIfNegative val="0"/>
            <c:bubble3D val="0"/>
            <c:spPr>
              <a:solidFill>
                <a:srgbClr val="9CA3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146-4D5C-9F43-897B394C9B5F}"/>
              </c:ext>
            </c:extLst>
          </c:dPt>
          <c:dPt>
            <c:idx val="6"/>
            <c:invertIfNegative val="0"/>
            <c:bubble3D val="0"/>
            <c:spPr>
              <a:solidFill>
                <a:srgbClr val="9CA3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146-4D5C-9F43-897B394C9B5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Podcast</c:v>
                </c:pt>
                <c:pt idx="1">
                  <c:v>Hindi Music</c:v>
                </c:pt>
                <c:pt idx="2">
                  <c:v>Lofi/Chill</c:v>
                </c:pt>
                <c:pt idx="3">
                  <c:v>Bollywood</c:v>
                </c:pt>
                <c:pt idx="4">
                  <c:v>English Pop</c:v>
                </c:pt>
                <c:pt idx="5">
                  <c:v>Rock</c:v>
                </c:pt>
                <c:pt idx="6">
                  <c:v>Classical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</c:v>
                </c:pt>
                <c:pt idx="1">
                  <c:v>24</c:v>
                </c:pt>
                <c:pt idx="2">
                  <c:v>19</c:v>
                </c:pt>
                <c:pt idx="3">
                  <c:v>17</c:v>
                </c:pt>
                <c:pt idx="4">
                  <c:v>15</c:v>
                </c:pt>
                <c:pt idx="5">
                  <c:v>9</c:v>
                </c:pt>
                <c:pt idx="6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E146-4D5C-9F43-897B394C9B5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7415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F2937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E5E7E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E5E7EB"/>
                </a:solidFill>
                <a:latin typeface="Arial"/>
              </a:rPr>
              <a:t>4-Year Growth by Genre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4-Year Growth %</c:v>
                </c:pt>
              </c:strCache>
            </c:strRef>
          </c:tx>
          <c:spPr>
            <a:solidFill>
              <a:srgbClr val="1DB95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5D9-4138-A37B-B6992513812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5D9-4138-A37B-B6992513812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5D9-4138-A37B-B6992513812C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25D9-4138-A37B-B6992513812C}"/>
              </c:ext>
            </c:extLst>
          </c:dPt>
          <c:dPt>
            <c:idx val="4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5D9-4138-A37B-B6992513812C}"/>
              </c:ext>
            </c:extLst>
          </c:dPt>
          <c:dPt>
            <c:idx val="5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5D9-4138-A37B-B6992513812C}"/>
              </c:ext>
            </c:extLst>
          </c:dPt>
          <c:dPt>
            <c:idx val="6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5D9-4138-A37B-B6992513812C}"/>
              </c:ext>
            </c:extLst>
          </c:dPt>
          <c:dPt>
            <c:idx val="7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5D9-4138-A37B-B6992513812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Podcast</c:v>
                </c:pt>
                <c:pt idx="1">
                  <c:v>Lofi/Chill</c:v>
                </c:pt>
                <c:pt idx="2">
                  <c:v>Punjabi</c:v>
                </c:pt>
                <c:pt idx="3">
                  <c:v>Tamil</c:v>
                </c:pt>
                <c:pt idx="4">
                  <c:v>Bollywood</c:v>
                </c:pt>
                <c:pt idx="5">
                  <c:v>Hindi</c:v>
                </c:pt>
                <c:pt idx="6">
                  <c:v>Rock</c:v>
                </c:pt>
                <c:pt idx="7">
                  <c:v>Classical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187</c:v>
                </c:pt>
                <c:pt idx="1">
                  <c:v>134</c:v>
                </c:pt>
                <c:pt idx="2">
                  <c:v>89</c:v>
                </c:pt>
                <c:pt idx="3">
                  <c:v>76</c:v>
                </c:pt>
                <c:pt idx="4">
                  <c:v>31</c:v>
                </c:pt>
                <c:pt idx="5">
                  <c:v>42</c:v>
                </c:pt>
                <c:pt idx="6">
                  <c:v>-8</c:v>
                </c:pt>
                <c:pt idx="7">
                  <c:v>-12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25D9-4138-A37B-B699251381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7415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F2937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5E7E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5E7EB"/>
                </a:solidFill>
                <a:latin typeface="Arial"/>
              </a:rPr>
              <a:t>Share of Voice — 2025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Voice 2025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B95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B2F-423F-9F17-47DB1CDFD1F7}"/>
              </c:ext>
            </c:extLst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B2F-423F-9F17-47DB1CDFD1F7}"/>
              </c:ext>
            </c:extLst>
          </c:dPt>
          <c:dPt>
            <c:idx val="2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B2F-423F-9F17-47DB1CDFD1F7}"/>
              </c:ext>
            </c:extLst>
          </c:dPt>
          <c:dPt>
            <c:idx val="3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B2F-423F-9F17-47DB1CDFD1F7}"/>
              </c:ext>
            </c:extLst>
          </c:dPt>
          <c:dPt>
            <c:idx val="4"/>
            <c:bubble3D val="0"/>
            <c:spPr>
              <a:solidFill>
                <a:srgbClr val="9CA3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B2F-423F-9F17-47DB1CDFD1F7}"/>
              </c:ext>
            </c:extLst>
          </c:dPt>
          <c:dPt>
            <c:idx val="5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B2F-423F-9F17-47DB1CDFD1F7}"/>
              </c:ext>
            </c:extLst>
          </c:dPt>
          <c:dPt>
            <c:idx val="6"/>
            <c:bubble3D val="0"/>
            <c:spPr>
              <a:solidFill>
                <a:srgbClr val="6B72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B2F-423F-9F17-47DB1CDFD1F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B2F-423F-9F17-47DB1CDFD1F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B2F-423F-9F17-47DB1CDFD1F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B2F-423F-9F17-47DB1CDFD1F7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B2F-423F-9F17-47DB1CDFD1F7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B2F-423F-9F17-47DB1CDFD1F7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B2F-423F-9F17-47DB1CDFD1F7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5B2F-423F-9F17-47DB1CDFD1F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Brand (Spotify)</c:v>
                </c:pt>
                <c:pt idx="1">
                  <c:v>Category</c:v>
                </c:pt>
                <c:pt idx="2">
                  <c:v>YouTube Music</c:v>
                </c:pt>
                <c:pt idx="3">
                  <c:v>Amazon Music</c:v>
                </c:pt>
                <c:pt idx="4">
                  <c:v>Apple Music</c:v>
                </c:pt>
                <c:pt idx="5">
                  <c:v>Gaana</c:v>
                </c:pt>
                <c:pt idx="6">
                  <c:v>Others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36.299999999999997</c:v>
                </c:pt>
                <c:pt idx="1">
                  <c:v>56.1</c:v>
                </c:pt>
                <c:pt idx="2">
                  <c:v>3.1</c:v>
                </c:pt>
                <c:pt idx="3">
                  <c:v>1.2</c:v>
                </c:pt>
                <c:pt idx="4">
                  <c:v>0.8</c:v>
                </c:pt>
                <c:pt idx="5">
                  <c:v>0.5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5B2F-423F-9F17-47DB1CDFD1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1F2937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5E7E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5E7EB"/>
                </a:solidFill>
                <a:latin typeface="Arial"/>
              </a:rPr>
              <a:t>Competitor SOV: 2022 vs 2025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 Share %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YouTube Music</c:v>
                </c:pt>
                <c:pt idx="1">
                  <c:v>Amazon Music</c:v>
                </c:pt>
                <c:pt idx="2">
                  <c:v>Apple Music</c:v>
                </c:pt>
                <c:pt idx="3">
                  <c:v>Gaana</c:v>
                </c:pt>
                <c:pt idx="4">
                  <c:v>JioSaavn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2.4</c:v>
                </c:pt>
                <c:pt idx="1">
                  <c:v>0.9</c:v>
                </c:pt>
                <c:pt idx="2">
                  <c:v>1.1000000000000001</c:v>
                </c:pt>
                <c:pt idx="3">
                  <c:v>1.2</c:v>
                </c:pt>
                <c:pt idx="4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8B-42D9-ADB3-019F8F18F8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 Share %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YouTube Music</c:v>
                </c:pt>
                <c:pt idx="1">
                  <c:v>Amazon Music</c:v>
                </c:pt>
                <c:pt idx="2">
                  <c:v>Apple Music</c:v>
                </c:pt>
                <c:pt idx="3">
                  <c:v>Gaana</c:v>
                </c:pt>
                <c:pt idx="4">
                  <c:v>JioSaavn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3.1</c:v>
                </c:pt>
                <c:pt idx="1">
                  <c:v>1.2</c:v>
                </c:pt>
                <c:pt idx="2">
                  <c:v>0.8</c:v>
                </c:pt>
                <c:pt idx="3">
                  <c:v>0.5</c:v>
                </c:pt>
                <c:pt idx="4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F8B-42D9-ADB3-019F8F18F8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7415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1F2937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5E7E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5E7EB"/>
                </a:solidFill>
                <a:latin typeface="Arial"/>
              </a:rPr>
              <a:t>Keyword Intent Classification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Intent 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58C-4497-A2D5-AD04A8F596C7}"/>
              </c:ext>
            </c:extLst>
          </c:dPt>
          <c:dPt>
            <c:idx val="1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58C-4497-A2D5-AD04A8F596C7}"/>
              </c:ext>
            </c:extLst>
          </c:dPt>
          <c:dPt>
            <c:idx val="2"/>
            <c:bubble3D val="0"/>
            <c:spPr>
              <a:solidFill>
                <a:srgbClr val="1DB95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58C-4497-A2D5-AD04A8F596C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58C-4497-A2D5-AD04A8F596C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58C-4497-A2D5-AD04A8F596C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58C-4497-A2D5-AD04A8F596C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Informational (40.9%)</c:v>
                </c:pt>
                <c:pt idx="1">
                  <c:v>Navigational (33.6%)</c:v>
                </c:pt>
                <c:pt idx="2">
                  <c:v>Transactional (25.5%)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40.9</c:v>
                </c:pt>
                <c:pt idx="1">
                  <c:v>33.6</c:v>
                </c:pt>
                <c:pt idx="2">
                  <c:v>25.5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58C-4497-A2D5-AD04A8F596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1F2937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5E7E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5E7EB"/>
                </a:solidFill>
                <a:latin typeface="Arial"/>
              </a:rPr>
              <a:t>Top 10 Keywords by Avg Monthly Volume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Monthly Volume (M)</c:v>
                </c:pt>
              </c:strCache>
            </c:strRef>
          </c:tx>
          <c:spPr>
            <a:solidFill>
              <a:srgbClr val="1DB95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982-47D1-8057-0FA28E6E188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982-47D1-8057-0FA28E6E1885}"/>
              </c:ext>
            </c:extLst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982-47D1-8057-0FA28E6E1885}"/>
              </c:ext>
            </c:extLst>
          </c:dPt>
          <c:dPt>
            <c:idx val="3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982-47D1-8057-0FA28E6E1885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7982-47D1-8057-0FA28E6E1885}"/>
              </c:ext>
            </c:extLst>
          </c:dPt>
          <c:dPt>
            <c:idx val="5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982-47D1-8057-0FA28E6E1885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7982-47D1-8057-0FA28E6E1885}"/>
              </c:ext>
            </c:extLst>
          </c:dPt>
          <c:dPt>
            <c:idx val="7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7982-47D1-8057-0FA28E6E1885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7982-47D1-8057-0FA28E6E1885}"/>
              </c:ext>
            </c:extLst>
          </c:dPt>
          <c:dPt>
            <c:idx val="9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7982-47D1-8057-0FA28E6E188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spotify</c:v>
                </c:pt>
                <c:pt idx="1">
                  <c:v>spotify web player</c:v>
                </c:pt>
                <c:pt idx="2">
                  <c:v>music</c:v>
                </c:pt>
                <c:pt idx="3">
                  <c:v>podcast</c:v>
                </c:pt>
                <c:pt idx="4">
                  <c:v>spotify premium</c:v>
                </c:pt>
                <c:pt idx="5">
                  <c:v>youtube music</c:v>
                </c:pt>
                <c:pt idx="6">
                  <c:v>spotify download</c:v>
                </c:pt>
                <c:pt idx="7">
                  <c:v>hindi songs</c:v>
                </c:pt>
                <c:pt idx="8">
                  <c:v>spotify login</c:v>
                </c:pt>
                <c:pt idx="9">
                  <c:v>lofi music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12.4</c:v>
                </c:pt>
                <c:pt idx="1">
                  <c:v>3.1</c:v>
                </c:pt>
                <c:pt idx="2">
                  <c:v>2.8</c:v>
                </c:pt>
                <c:pt idx="3">
                  <c:v>2.2000000000000002</c:v>
                </c:pt>
                <c:pt idx="4">
                  <c:v>1.9</c:v>
                </c:pt>
                <c:pt idx="5">
                  <c:v>1.7</c:v>
                </c:pt>
                <c:pt idx="6">
                  <c:v>1.4</c:v>
                </c:pt>
                <c:pt idx="7">
                  <c:v>1.3</c:v>
                </c:pt>
                <c:pt idx="8">
                  <c:v>1.2</c:v>
                </c:pt>
                <c:pt idx="9">
                  <c:v>1.1000000000000001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7982-47D1-8057-0FA28E6E18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7415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F2937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5E7E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5E7EB"/>
                </a:solidFill>
                <a:latin typeface="Arial"/>
              </a:rPr>
              <a:t>Keyword Growth Segmentation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Keyword Segments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B95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D02-4F47-87CE-DF6A81C27696}"/>
              </c:ext>
            </c:extLst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D02-4F47-87CE-DF6A81C27696}"/>
              </c:ext>
            </c:extLst>
          </c:dPt>
          <c:dPt>
            <c:idx val="2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D02-4F47-87CE-DF6A81C2769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D02-4F47-87CE-DF6A81C2769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D02-4F47-87CE-DF6A81C2769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D02-4F47-87CE-DF6A81C2769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Growing (634)</c:v>
                </c:pt>
                <c:pt idx="1">
                  <c:v>Stable (1,847)</c:v>
                </c:pt>
                <c:pt idx="2">
                  <c:v>Declining (458)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634</c:v>
                </c:pt>
                <c:pt idx="1">
                  <c:v>1847</c:v>
                </c:pt>
                <c:pt idx="2">
                  <c:v>458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D02-4F47-87CE-DF6A81C276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1F293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3908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-457200"/>
            <a:ext cx="4114800" cy="4114800"/>
          </a:xfrm>
          <a:prstGeom prst="ellipse">
            <a:avLst/>
          </a:prstGeom>
          <a:solidFill>
            <a:srgbClr val="1DB954">
              <a:alpha val="12000"/>
            </a:srgbClr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91440"/>
            <a:ext cx="2926080" cy="2926080"/>
          </a:xfrm>
          <a:prstGeom prst="ellipse">
            <a:avLst/>
          </a:prstGeom>
          <a:solidFill>
            <a:srgbClr val="1DB954">
              <a:alpha val="18000"/>
            </a:srgbClr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0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117"/>
                </a:solidFill>
              </a:rPr>
              <a:t>RECRUITMENT ASSIGNMENT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StreamSignal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Search Intelligence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2633472"/>
            <a:ext cx="4114800" cy="3657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88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</a:rPr>
              <a:t>2,939 Keywords  ·  48 Months  ·  Jan 2022 – Dec 2025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1828800" cy="347472"/>
          </a:xfrm>
          <a:prstGeom prst="rect">
            <a:avLst/>
          </a:prstGeom>
          <a:solidFill>
            <a:srgbClr val="1DB954">
              <a:alpha val="20000"/>
            </a:srgbClr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46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Brand · 1,067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3246120"/>
            <a:ext cx="1828800" cy="347472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3246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Category · 1,656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3246120"/>
            <a:ext cx="1828800" cy="347472"/>
          </a:xfrm>
          <a:prstGeom prst="rect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246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Competition · 216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DB954"/>
                </a:solidFill>
              </a:rPr>
              <a:t>streamsignal-spotify-search-intelligence.streamlit.app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0" y="46634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Music Streaming App · Keyword Search Analysis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50292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EXECUTIVE 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</a:rPr>
              <a:t>4-Year Keyword Search Performance Overview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658368"/>
            <a:ext cx="1993392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1DB95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658368"/>
            <a:ext cx="1993392" cy="6400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4980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Total Search Volume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9875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13.55B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148132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DB954"/>
                </a:solidFill>
              </a:rPr>
              <a:t>2022 – 2025 cumulative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423160" y="658368"/>
            <a:ext cx="1993392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658368"/>
            <a:ext cx="1993392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74980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4-Year Growth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32888" y="9875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532888" y="148132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3B82F6"/>
                </a:solidFill>
              </a:rPr>
              <a:t>vs 2022 baseline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90288" y="658368"/>
            <a:ext cx="1993392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90288" y="658368"/>
            <a:ext cx="1993392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0016" y="74980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Top Keyword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00016" y="9875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00016" y="148132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A855F7"/>
                </a:solidFill>
              </a:rPr>
              <a:t>~12.4M avg monthly searches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757416" y="658368"/>
            <a:ext cx="1993392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57416" y="658368"/>
            <a:ext cx="1993392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67144" y="74980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Peak Month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867144" y="9875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867144" y="148132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97316"/>
                </a:solidFill>
              </a:rPr>
              <a:t>festive season demand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56032" y="2029968"/>
            <a:ext cx="1993392" cy="1234440"/>
          </a:xfrm>
          <a:prstGeom prst="rect">
            <a:avLst/>
          </a:prstGeom>
          <a:solidFill>
            <a:srgbClr val="1A2332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2029968"/>
            <a:ext cx="1993392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12140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Fastest-Growing Theme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5760" y="23591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65760" y="285292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4B8A6"/>
                </a:solidFill>
              </a:rPr>
              <a:t>+62% cumulative growth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423160" y="2029968"/>
            <a:ext cx="1993392" cy="1234440"/>
          </a:xfrm>
          <a:prstGeom prst="rect">
            <a:avLst/>
          </a:prstGeom>
          <a:solidFill>
            <a:srgbClr val="1A2332"/>
          </a:solidFill>
          <a:ln w="12700">
            <a:solidFill>
              <a:srgbClr val="1DB95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423160" y="2029968"/>
            <a:ext cx="1993392" cy="6400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32888" y="212140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Purchase Intent Keywords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532888" y="23591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749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2532888" y="285292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DB954"/>
                </a:solidFill>
              </a:rPr>
              <a:t>25.5% of all keywords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590288" y="2029968"/>
            <a:ext cx="1993392" cy="1234440"/>
          </a:xfrm>
          <a:prstGeom prst="rect">
            <a:avLst/>
          </a:prstGeom>
          <a:solidFill>
            <a:srgbClr val="1A2332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90288" y="2029968"/>
            <a:ext cx="1993392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0016" y="212140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#1 Competitor Threat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00016" y="23591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 Music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4700016" y="285292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EF4444"/>
                </a:solidFill>
              </a:rPr>
              <a:t>+29% share since 2022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757416" y="2029968"/>
            <a:ext cx="1993392" cy="1234440"/>
          </a:xfrm>
          <a:prstGeom prst="rect">
            <a:avLst/>
          </a:prstGeom>
          <a:solidFill>
            <a:srgbClr val="1A2332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57416" y="2029968"/>
            <a:ext cx="199339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67144" y="212140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Rising Opportunity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867144" y="23591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6867144" y="285292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59E0B"/>
                </a:solidFill>
              </a:rPr>
              <a:t>+187% search growth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0" y="3401568"/>
            <a:ext cx="9144000" cy="17373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35204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B954"/>
                </a:solidFill>
              </a:rPr>
              <a:t>HEADLINE FINDINGS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0040" y="3858768"/>
            <a:ext cx="91440" cy="9144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381304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</a:rPr>
              <a:t>Category theme is the growth engine — podcast &amp; regional music are driving 13%+ YoY expansion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20040" y="4133088"/>
            <a:ext cx="91440" cy="9144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408736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</a:rPr>
              <a:t>YouTube Music is the only competitor gaining search share; all Indian competitors are declining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0040" y="4407408"/>
            <a:ext cx="91440" cy="9144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436168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</a:rPr>
              <a:t>25% of searches carry transactional intent — a direct monetization opportunity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4681728"/>
            <a:ext cx="91440" cy="9144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463600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</a:rPr>
              <a:t>AI features &amp; offline mode represent the highest-growth product opportunities for 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TEMPORAL TREND ANALYSIS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594360"/>
          <a:ext cx="42062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663440" y="594360"/>
          <a:ext cx="42062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794760"/>
            <a:ext cx="8595360" cy="1097280"/>
          </a:xfrm>
          <a:prstGeom prst="rect">
            <a:avLst/>
          </a:prstGeom>
          <a:solidFill>
            <a:srgbClr val="1A2332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274320" y="3794760"/>
            <a:ext cx="64008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38587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</a:rPr>
              <a:t>💡  KEY INSIGHT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57200" y="411480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</a:rPr>
              <a:t>Total search volume grew +38% from 2022 to 2025, reaching ~3.92B monthly searches by year-end 2025. Growth is decelerating from 13% → 9.5% YoY — the market is maturing. Key spikes occurred in Nov 2022 (+41% surge driven by FIFA World Cup), Jan 2024 (+19% driven by Spotify Wrapped virality), and Sep 2025 (+23% from podcast exclusives). This deceleration signals that 2026 must focus on share capture from competitors, not just market expansion.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5029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THEME PERFORMANCE COMPARISON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59436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621792"/>
            <a:ext cx="3108960" cy="987552"/>
          </a:xfrm>
          <a:prstGeom prst="rect">
            <a:avLst/>
          </a:prstGeom>
          <a:solidFill>
            <a:srgbClr val="1A2332"/>
          </a:solidFill>
          <a:ln w="12700">
            <a:solidFill>
              <a:srgbClr val="1DB95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621792"/>
            <a:ext cx="64008" cy="98755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685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Brand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941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Solid base; decelerating. Owned by Spotify.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943600" y="12618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1,067 keywords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223760" y="12618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DB954"/>
                </a:solidFill>
              </a:rPr>
              <a:t>2025 YoY: +6.1%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8065008" y="667512"/>
            <a:ext cx="749808" cy="237744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65008" y="66751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</a:rPr>
              <a:t>Stable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760720" y="1719072"/>
            <a:ext cx="3108960" cy="987552"/>
          </a:xfrm>
          <a:prstGeom prst="rect">
            <a:avLst/>
          </a:prstGeom>
          <a:solidFill>
            <a:srgbClr val="1A2332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760720" y="1719072"/>
            <a:ext cx="64008" cy="9875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0" y="1783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Category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943600" y="20391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Podcast + regional genres driving expansion.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943600" y="23591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1,656 keywords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223760" y="23591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82F6"/>
                </a:solidFill>
              </a:rPr>
              <a:t>2025 YoY: +13.2%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8065008" y="1764792"/>
            <a:ext cx="749808" cy="237744"/>
          </a:xfrm>
          <a:prstGeom prst="rect">
            <a:avLst/>
          </a:prstGeom>
          <a:solidFill>
            <a:srgbClr val="1DB954">
              <a:alpha val="25000"/>
            </a:srgbClr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65008" y="176479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DB954"/>
                </a:solidFill>
              </a:rPr>
              <a:t>Growing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760720" y="2816352"/>
            <a:ext cx="3108960" cy="987552"/>
          </a:xfrm>
          <a:prstGeom prst="rect">
            <a:avLst/>
          </a:prstGeom>
          <a:solidFill>
            <a:srgbClr val="1A2332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760720" y="2816352"/>
            <a:ext cx="64008" cy="9875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0" y="2880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Competition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943600" y="3136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Gaana &amp; JioSaavn collapsing. YT Music up.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943600" y="34564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216 keywords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223760" y="34564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97316"/>
                </a:solidFill>
              </a:rPr>
              <a:t>2025 YoY: -1.4%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8065008" y="2862072"/>
            <a:ext cx="749808" cy="237744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065008" y="286207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F4444"/>
                </a:solidFill>
              </a:rPr>
              <a:t>Declining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274320" y="4041648"/>
            <a:ext cx="8595360" cy="868680"/>
          </a:xfrm>
          <a:prstGeom prst="rect">
            <a:avLst/>
          </a:prstGeom>
          <a:solidFill>
            <a:srgbClr val="1A2332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74320" y="4041648"/>
            <a:ext cx="64008" cy="8686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5488" y="411480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</a:rPr>
              <a:t>💡  STRATEGIC IMPLICATION: Category theme's 62% cumulative growth is the signal to act on — invest in podcast content, regional language SEO, and lofi/study music playlists. The competition theme's decline is an opportunity to accelerate brand dominance while rivals weaken.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CATEGORY DEEP-DIVE  —  Sub-types &amp; Genre Trends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594360"/>
          <a:ext cx="49377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394960" y="594360"/>
          <a:ext cx="34747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630168"/>
            <a:ext cx="8595360" cy="1508760"/>
          </a:xfrm>
          <a:prstGeom prst="rect">
            <a:avLst/>
          </a:prstGeom>
          <a:solidFill>
            <a:srgbClr val="1A2332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74320" y="3630168"/>
            <a:ext cx="64008" cy="1508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75488" y="36941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</a:rPr>
              <a:t>KEY CATEGORY INSIGHTS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75488" y="3977640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</a:rPr>
              <a:t>🚀 Podcast is the #1 growth category at +187% over 4 years — far outpacing any music genre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75488" y="4251960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</a:rPr>
              <a:t>🎵 Lofi/Chill music grew +134%, reflecting the rise of study, focus, and ambient listening use cases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75488" y="4526280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</a:rPr>
              <a:t>🌏 Regional Indian genres (Punjabi +89%, Tamil +76%) are fast-emerging — major content opportunity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75488" y="4800600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</a:rPr>
              <a:t>📉 Rock and Classical are declining (-8%, -12%) — reduce investment; maintain for retention of existing fans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COMPETITIVE INTELLIGENCE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594360"/>
          <a:ext cx="3840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297680" y="594360"/>
          <a:ext cx="45720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931920"/>
            <a:ext cx="2788920" cy="1005840"/>
          </a:xfrm>
          <a:prstGeom prst="rect">
            <a:avLst/>
          </a:prstGeom>
          <a:solidFill>
            <a:srgbClr val="1A233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11480" y="3995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YouTube Music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11480" y="42519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Share change: +0.7pp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411480" y="4453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🔴 HIGH THREAT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411480" y="46542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CA3AF"/>
                </a:solidFill>
              </a:rPr>
              <a:t>Bundled with YT Premium. Only growing competitor.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3200400" y="3931920"/>
            <a:ext cx="2788920" cy="1005840"/>
          </a:xfrm>
          <a:prstGeom prst="rect">
            <a:avLst/>
          </a:prstGeom>
          <a:solidFill>
            <a:srgbClr val="1A233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37560" y="3995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Amazon Music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37560" y="42519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Share change: +0.3pp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3337560" y="4453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</a:rPr>
              <a:t>🟡 WATCH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3337560" y="46542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CA3AF"/>
                </a:solidFill>
              </a:rPr>
              <a:t>Slow growth. Echo device bundling expanding.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126480" y="3931920"/>
            <a:ext cx="2788920" cy="1005840"/>
          </a:xfrm>
          <a:prstGeom prst="rect">
            <a:avLst/>
          </a:prstGeom>
          <a:solidFill>
            <a:srgbClr val="1A2332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63640" y="3995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Gaana / JioSaavn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263640" y="42519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Share change: -0.7pp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6263640" y="4453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B954"/>
                </a:solidFill>
              </a:rPr>
              <a:t>🟢 DECLINING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6263640" y="46542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CA3AF"/>
                </a:solidFill>
              </a:rPr>
              <a:t>User base up for grabs. Aggressive pricing opportunity.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USER INTENT &amp; FEATURE DEMAND SIGNALS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621792"/>
          <a:ext cx="36576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114800" y="6217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 &amp; Pain Point Keywords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0" y="960120"/>
            <a:ext cx="4754880" cy="347472"/>
          </a:xfrm>
          <a:prstGeom prst="rect">
            <a:avLst/>
          </a:prstGeom>
          <a:solidFill>
            <a:srgbClr val="374151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87952" y="9966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5E7EB"/>
                </a:solidFill>
              </a:rPr>
              <a:t>Keyword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50992" y="9966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5E7EB"/>
                </a:solidFill>
              </a:rPr>
              <a:t>Avg Vol/Mo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73952" y="9966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5E7EB"/>
                </a:solidFill>
              </a:rPr>
              <a:t>Signal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479792" y="99669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5E7EB"/>
                </a:solidFill>
              </a:rPr>
              <a:t>Priority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114800" y="1344168"/>
            <a:ext cx="4754880" cy="347472"/>
          </a:xfrm>
          <a:prstGeom prst="rect">
            <a:avLst/>
          </a:prstGeom>
          <a:solidFill>
            <a:srgbClr val="1A2332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87952" y="1380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spotify premium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650992" y="13807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1.9M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73952" y="13807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💰 Upgrade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479792" y="13807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🔴 High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114800" y="1728216"/>
            <a:ext cx="4754880" cy="347472"/>
          </a:xfrm>
          <a:prstGeom prst="rect">
            <a:avLst/>
          </a:prstGeom>
          <a:solidFill>
            <a:srgbClr val="1F2937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87952" y="17647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remove ads spotify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650992" y="17647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680K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473952" y="17647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⚠️ Pain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479792" y="1764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🔴 High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114800" y="2112264"/>
            <a:ext cx="4754880" cy="347472"/>
          </a:xfrm>
          <a:prstGeom prst="rect">
            <a:avLst/>
          </a:prstGeom>
          <a:solidFill>
            <a:srgbClr val="1A2332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87952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spotify offline mode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650992" y="21488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510K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473952" y="2148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🔧 Feature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479792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🔴 High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0" y="2496312"/>
            <a:ext cx="4754880" cy="347472"/>
          </a:xfrm>
          <a:prstGeom prst="rect">
            <a:avLst/>
          </a:prstGeom>
          <a:solidFill>
            <a:srgbClr val="1F2937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87952" y="25328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spotify free vs premium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650992" y="25328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490K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473952" y="2532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💰 Price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479792" y="25328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🟡 Med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114800" y="2880360"/>
            <a:ext cx="4754880" cy="347472"/>
          </a:xfrm>
          <a:prstGeom prst="rect">
            <a:avLst/>
          </a:prstGeom>
          <a:solidFill>
            <a:srgbClr val="1A2332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87952" y="29169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spotify student discount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650992" y="29169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340K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473952" y="29169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🎓 Segment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479792" y="29169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🟡 Med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0" y="3264408"/>
            <a:ext cx="4754880" cy="347472"/>
          </a:xfrm>
          <a:prstGeom prst="rect">
            <a:avLst/>
          </a:prstGeom>
          <a:solidFill>
            <a:srgbClr val="1F2937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187952" y="33009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spotify family plan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650992" y="33009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290K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473952" y="33009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👨‍👩‍👧 Bundle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479792" y="33009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🟡 Med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114800" y="3648456"/>
            <a:ext cx="4754880" cy="347472"/>
          </a:xfrm>
          <a:prstGeom prst="rect">
            <a:avLst/>
          </a:prstGeom>
          <a:solidFill>
            <a:srgbClr val="1A2332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187952" y="3685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spotify not working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5650992" y="36850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270K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473952" y="3685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⚠️ Support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7479792" y="3685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🟡 Med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114800" y="4032504"/>
            <a:ext cx="4754880" cy="347472"/>
          </a:xfrm>
          <a:prstGeom prst="rect">
            <a:avLst/>
          </a:prstGeom>
          <a:solidFill>
            <a:srgbClr val="1F2937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187952" y="4069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spotify lyrics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5650992" y="4069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240K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6473952" y="4069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🎤 Feature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7479792" y="4069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🟢 Act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274320" y="4553712"/>
            <a:ext cx="8595360" cy="530352"/>
          </a:xfrm>
          <a:prstGeom prst="rect">
            <a:avLst/>
          </a:prstGeom>
          <a:solidFill>
            <a:srgbClr val="1E3A2F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75488" y="459028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</a:rPr>
              <a:t>💡  25.5% of all keywords carry transactional (purchase) intent — equivalent to ~749 keywords generating direct conversion signals. Prioritizing SEO around Premium upgrade and student/family plans has the highest direct revenue impact.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50292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TOP PERFORMERS &amp; RISING STARS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594360"/>
          <a:ext cx="51206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594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🚀 Rising Stars (2024→2025 Growth)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577840" y="960120"/>
            <a:ext cx="3291840" cy="420624"/>
          </a:xfrm>
          <a:prstGeom prst="rect">
            <a:avLst/>
          </a:prstGeom>
          <a:solidFill>
            <a:srgbClr val="1A2332"/>
          </a:solidFill>
          <a:ln w="6350">
            <a:solidFill>
              <a:srgbClr val="1DB95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960120"/>
            <a:ext cx="54864" cy="42062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87568" y="9966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spotify ai playlist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87568" y="1179576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Brand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406640" y="1033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B954"/>
                </a:solidFill>
              </a:rPr>
              <a:t>+312%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577840" y="1435608"/>
            <a:ext cx="3291840" cy="420624"/>
          </a:xfrm>
          <a:prstGeom prst="rect">
            <a:avLst/>
          </a:prstGeom>
          <a:solidFill>
            <a:srgbClr val="1A2332"/>
          </a:solidFill>
          <a:ln w="63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7840" y="1435608"/>
            <a:ext cx="54864" cy="42062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87568" y="14721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podcast in hindi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687568" y="1655064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Category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406640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B82F6"/>
                </a:solidFill>
              </a:rPr>
              <a:t>+228%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577840" y="1911096"/>
            <a:ext cx="3291840" cy="420624"/>
          </a:xfrm>
          <a:prstGeom prst="rect">
            <a:avLst/>
          </a:prstGeom>
          <a:solidFill>
            <a:srgbClr val="1A2332"/>
          </a:solidFill>
          <a:ln w="6350">
            <a:solidFill>
              <a:srgbClr val="1DB95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77840" y="1911096"/>
            <a:ext cx="54864" cy="42062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87568" y="1947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spotify lyrics view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687568" y="2130552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Brand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406640" y="1984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B954"/>
                </a:solidFill>
              </a:rPr>
              <a:t>+187%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577840" y="2386584"/>
            <a:ext cx="3291840" cy="420624"/>
          </a:xfrm>
          <a:prstGeom prst="rect">
            <a:avLst/>
          </a:prstGeom>
          <a:solidFill>
            <a:srgbClr val="1A2332"/>
          </a:solidFill>
          <a:ln w="635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577840" y="2386584"/>
            <a:ext cx="54864" cy="42062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87568" y="24231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lofi hip hop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687568" y="2606040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Category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406640" y="24597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B8A6"/>
                </a:solidFill>
              </a:rPr>
              <a:t>+143%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577840" y="2862072"/>
            <a:ext cx="3291840" cy="420624"/>
          </a:xfrm>
          <a:prstGeom prst="rect">
            <a:avLst/>
          </a:prstGeom>
          <a:solidFill>
            <a:srgbClr val="1A2332"/>
          </a:solidFill>
          <a:ln w="635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577840" y="2862072"/>
            <a:ext cx="54864" cy="42062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87568" y="28986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yt music vs spotify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687568" y="3081528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Comp.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406640" y="2935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97316"/>
                </a:solidFill>
              </a:rPr>
              <a:t>+118%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5577840" y="3337560"/>
            <a:ext cx="3291840" cy="420624"/>
          </a:xfrm>
          <a:prstGeom prst="rect">
            <a:avLst/>
          </a:prstGeom>
          <a:solidFill>
            <a:srgbClr val="1A2332"/>
          </a:solidFill>
          <a:ln w="6350">
            <a:solidFill>
              <a:srgbClr val="1DB95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577840" y="3337560"/>
            <a:ext cx="54864" cy="42062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87568" y="33741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spotify free trial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687568" y="3557016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Brand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406640" y="34107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B954"/>
                </a:solidFill>
              </a:rPr>
              <a:t>+97%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577840" y="3813048"/>
            <a:ext cx="3291840" cy="420624"/>
          </a:xfrm>
          <a:prstGeom prst="rect">
            <a:avLst/>
          </a:prstGeom>
          <a:solidFill>
            <a:srgbClr val="1A2332"/>
          </a:solidFill>
          <a:ln w="63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5577840" y="3813048"/>
            <a:ext cx="54864" cy="42062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687568" y="38496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bollywood podcast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5687568" y="4032504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Category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7406640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B82F6"/>
                </a:solidFill>
              </a:rPr>
              <a:t>+91%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5029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ADVANCED ANALYTICS  —  Segmentation &amp; Correlation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621792"/>
          <a:ext cx="34747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3931920" y="6217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Correlation Findings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931920" y="969264"/>
            <a:ext cx="4937760" cy="594360"/>
          </a:xfrm>
          <a:prstGeom prst="rect">
            <a:avLst/>
          </a:prstGeom>
          <a:solidFill>
            <a:srgbClr val="1A2332"/>
          </a:solidFill>
          <a:ln w="12700">
            <a:solidFill>
              <a:srgbClr val="1DB95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931920" y="969264"/>
            <a:ext cx="64008" cy="59436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96512" y="10332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Lofi ↔ Study Music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096512" y="12801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Near-identical intent — target together in campaigns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863840" y="10789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B954"/>
                </a:solidFill>
              </a:rPr>
              <a:t>r = +0.89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931920" y="1627632"/>
            <a:ext cx="4937760" cy="594360"/>
          </a:xfrm>
          <a:prstGeom prst="rect">
            <a:avLst/>
          </a:prstGeom>
          <a:solidFill>
            <a:srgbClr val="1A2332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931920" y="1627632"/>
            <a:ext cx="64008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96512" y="16916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Brand ↔ Category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096512" y="1938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Category interest pulls brand awareness organically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863840" y="1737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</a:rPr>
              <a:t>r = +0.73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931920" y="2286000"/>
            <a:ext cx="4937760" cy="594360"/>
          </a:xfrm>
          <a:prstGeom prst="rect">
            <a:avLst/>
          </a:prstGeom>
          <a:solidFill>
            <a:srgbClr val="1A2332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931920" y="2286000"/>
            <a:ext cx="64008" cy="59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96512" y="23500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Podcast ↔ Exclusives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096512" y="2596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Original content launches directly drive search lift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863840" y="23957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B8A6"/>
                </a:solidFill>
              </a:rPr>
              <a:t>r = +0.67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931920" y="2944368"/>
            <a:ext cx="4937760" cy="594360"/>
          </a:xfrm>
          <a:prstGeom prst="rect">
            <a:avLst/>
          </a:prstGeom>
          <a:solidFill>
            <a:srgbClr val="1A2332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931920" y="2944368"/>
            <a:ext cx="64008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096512" y="300837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Brand ↔ Competition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096512" y="32552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Brand spikes suppress competitor search share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863840" y="30540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</a:rPr>
              <a:t>r = -0.41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274320" y="3474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Opportunity Matrix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74320" y="52303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</a:rPr>
              <a:t>HIGH VOLUME →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292608" y="3767328"/>
            <a:ext cx="182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CA3AF"/>
                </a:solidFill>
              </a:rPr>
              <a:t>HIGH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9CA3AF"/>
                </a:solidFill>
              </a:rPr>
              <a:t>GROWTH</a:t>
            </a:r>
            <a:endParaRPr lang="en-US" sz="600" dirty="0"/>
          </a:p>
        </p:txBody>
      </p:sp>
      <p:sp>
        <p:nvSpPr>
          <p:cNvPr id="30" name="Shape 27"/>
          <p:cNvSpPr/>
          <p:nvPr/>
        </p:nvSpPr>
        <p:spPr>
          <a:xfrm>
            <a:off x="502920" y="3767328"/>
            <a:ext cx="1664208" cy="658368"/>
          </a:xfrm>
          <a:prstGeom prst="rect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8640" y="38039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F4444"/>
                </a:solidFill>
              </a:rPr>
              <a:t>🔴 DEFEND &amp; SCALE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548640" y="404164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CA3AF"/>
                </a:solidFill>
              </a:rPr>
              <a:t>spotify premium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CA3AF"/>
                </a:solidFill>
              </a:rPr>
              <a:t>podcast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2286000" y="3767328"/>
            <a:ext cx="1664208" cy="658368"/>
          </a:xfrm>
          <a:prstGeom prst="rect">
            <a:avLst/>
          </a:prstGeom>
          <a:solidFill>
            <a:srgbClr val="1DB954">
              <a:alpha val="18000"/>
            </a:srgbClr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331720" y="38039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DB954"/>
                </a:solidFill>
              </a:rPr>
              <a:t>🌱 INVEST EARLY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2331720" y="404164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CA3AF"/>
                </a:solidFill>
              </a:rPr>
              <a:t>ai playlist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CA3AF"/>
                </a:solidFill>
              </a:rPr>
              <a:t>lyrics view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502920" y="4480560"/>
            <a:ext cx="1664208" cy="658368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48640" y="451713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9E0B"/>
                </a:solidFill>
              </a:rPr>
              <a:t>🟡 HARVEST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548640" y="47548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CA3AF"/>
                </a:solidFill>
              </a:rPr>
              <a:t>spotify login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CA3AF"/>
                </a:solidFill>
              </a:rPr>
              <a:t>hindi songs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2286000" y="4480560"/>
            <a:ext cx="1664208" cy="658368"/>
          </a:xfrm>
          <a:prstGeom prst="rect">
            <a:avLst/>
          </a:prstGeom>
          <a:solidFill>
            <a:srgbClr val="9CA3AF">
              <a:alpha val="18000"/>
            </a:srgbClr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331720" y="451713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CA3AF"/>
                </a:solidFill>
              </a:rPr>
              <a:t>⚪ MONITOR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2331720" y="47548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CA3AF"/>
                </a:solidFill>
              </a:rPr>
              <a:t>rock music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CA3AF"/>
                </a:solidFill>
              </a:rPr>
              <a:t>jazz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50292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STRATEGIC RECOMMENDATIONS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621792"/>
            <a:ext cx="4251960" cy="2084832"/>
          </a:xfrm>
          <a:prstGeom prst="rect">
            <a:avLst/>
          </a:prstGeom>
          <a:solidFill>
            <a:srgbClr val="1A2332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621792"/>
            <a:ext cx="425196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7498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🛠️  Product Strategy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3192" y="1152144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972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</a:rPr>
              <a:t>Launch AI Playlist as flagship feature with SEO landing page (+312% keyword growth)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93192" y="1517904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630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</a:rPr>
              <a:t>Build frictionless offline mode — 510K monthly searches signal persistent pain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93192" y="1883664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8288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</a:rPr>
              <a:t>Promote in-app Lyrics prominently (+187% search growth, stickiness driver)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93192" y="2249424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1945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</a:rPr>
              <a:t>Improve ad targeting to reduce 'remove ads' churn signal (680K/mo searches)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0016" y="621792"/>
            <a:ext cx="4251960" cy="2084832"/>
          </a:xfrm>
          <a:prstGeom prst="rect">
            <a:avLst/>
          </a:prstGeom>
          <a:solidFill>
            <a:srgbClr val="1A2332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0016" y="621792"/>
            <a:ext cx="425196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7176" y="7498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📣  Marketing Strategy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37176" y="1152144"/>
            <a:ext cx="82296" cy="822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92624" y="10972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</a:rPr>
              <a:t>Co-market with top podcasters — podcast is #1 growth category at +187%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37176" y="1517904"/>
            <a:ext cx="82296" cy="822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92624" y="14630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</a:rPr>
              <a:t>Launch campus campaigns targeting student discount searches (340K/mo, high intent)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37176" y="1883664"/>
            <a:ext cx="82296" cy="822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92624" y="18288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</a:rPr>
              <a:t>Build regional language landing pages (Hindi, Punjabi, Tamil) — all growing 40-90%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37176" y="2249424"/>
            <a:ext cx="82296" cy="822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92624" y="21945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</a:rPr>
              <a:t>Extend Spotify Wrapped campaign through Jan–Feb to capture sign-up surge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6032" y="2834640"/>
            <a:ext cx="4251960" cy="2084832"/>
          </a:xfrm>
          <a:prstGeom prst="rect">
            <a:avLst/>
          </a:prstGeom>
          <a:solidFill>
            <a:srgbClr val="1A2332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2834640"/>
            <a:ext cx="42519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29626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⚔️  Competitive Strategy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93192" y="3364992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31012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</a:rPr>
              <a:t>Counter YouTube Music with 'Spotify vs YT Music' comparison content strategy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93192" y="3730752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67588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</a:rPr>
              <a:t>Aggressive pricing in Tier 2/3 India cities to capture Gaana/JioSaavn's collapsing base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93192" y="4096512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04164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</a:rPr>
              <a:t>Differentiate from Apple Music via social features (collab playlists, friend activity)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93192" y="4462272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40740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</a:rPr>
              <a:t>Monitor Amazon Music's Echo bundle expansion — currently low threat, rising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00016" y="2834640"/>
            <a:ext cx="4251960" cy="2084832"/>
          </a:xfrm>
          <a:prstGeom prst="rect">
            <a:avLst/>
          </a:prstGeom>
          <a:solidFill>
            <a:srgbClr val="1A2332"/>
          </a:solidFill>
          <a:ln w="12700">
            <a:solidFill>
              <a:srgbClr val="1DB95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0016" y="2834640"/>
            <a:ext cx="4251960" cy="6400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37176" y="29626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🌱  Growth Opportunities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37176" y="3364992"/>
            <a:ext cx="82296" cy="82296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31012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</a:rPr>
              <a:t>AI/Personalization features — est. 1.2M/mo search demand by end 2026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37176" y="3730752"/>
            <a:ext cx="82296" cy="82296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92624" y="367588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</a:rPr>
              <a:t>Hindi/Regional podcast content — 900K/mo addressable search volume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837176" y="4096512"/>
            <a:ext cx="82296" cy="82296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92624" y="404164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</a:rPr>
              <a:t>Study/Focus music (lofi, ambient) — 750K/mo with strong co-correlation signals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837176" y="4462272"/>
            <a:ext cx="82296" cy="82296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92624" y="440740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</a:rPr>
              <a:t>Audiobooks integration — 310K/mo nascent but rapidly expanding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B954"/>
                </a:solidFill>
              </a:rPr>
              <a:t>INTERACTIVE DASHBOARD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CA3AF"/>
                </a:solidFill>
              </a:rPr>
              <a:t>streamsignal-spotify-search-intelligence.streamlit.app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627632" cy="2560320"/>
          </a:xfrm>
          <a:prstGeom prst="rect">
            <a:avLst/>
          </a:prstGeom>
          <a:solidFill>
            <a:srgbClr val="1F2937"/>
          </a:solidFill>
          <a:ln w="12700">
            <a:solidFill>
              <a:srgbClr val="1DB95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71600"/>
            <a:ext cx="1627632" cy="6400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544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Executive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Summary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633472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</a:rPr>
              <a:t>KPI cards + sparklines + share of voice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94360" y="3566160"/>
            <a:ext cx="987552" cy="237744"/>
          </a:xfrm>
          <a:prstGeom prst="rect">
            <a:avLst/>
          </a:prstGeom>
          <a:solidFill>
            <a:srgbClr val="1DB954">
              <a:alpha val="20000"/>
            </a:srgbClr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56616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B954"/>
                </a:solidFill>
              </a:rPr>
              <a:t>LIVE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11680" y="1371600"/>
            <a:ext cx="1627632" cy="2560320"/>
          </a:xfrm>
          <a:prstGeom prst="rect">
            <a:avLst/>
          </a:prstGeom>
          <a:solidFill>
            <a:srgbClr val="1F2937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11680" y="1371600"/>
            <a:ext cx="1627632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15544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103120" y="205740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Time Series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Explorer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2633472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</a:rPr>
              <a:t>48-month trend with theme filters &amp; anomaly detection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331720" y="3566160"/>
            <a:ext cx="987552" cy="237744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31720" y="356616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</a:rPr>
              <a:t>LIVE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49040" y="1371600"/>
            <a:ext cx="1627632" cy="2560320"/>
          </a:xfrm>
          <a:prstGeom prst="rect">
            <a:avLst/>
          </a:prstGeom>
          <a:solidFill>
            <a:srgbClr val="1F2937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49040" y="1371600"/>
            <a:ext cx="1627632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15544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840480" y="205740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Theme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Category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0" y="2633472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</a:rPr>
              <a:t>Drill-down from theme → sub-type → keyword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069080" y="3566160"/>
            <a:ext cx="987552" cy="237744"/>
          </a:xfrm>
          <a:prstGeom prst="rect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69080" y="356616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855F7"/>
                </a:solidFill>
              </a:rPr>
              <a:t>LIVE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86400" y="1371600"/>
            <a:ext cx="1627632" cy="2560320"/>
          </a:xfrm>
          <a:prstGeom prst="rect">
            <a:avLst/>
          </a:prstGeom>
          <a:solidFill>
            <a:srgbClr val="1F2937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0" y="1371600"/>
            <a:ext cx="1627632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15544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⚔️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577840" y="205740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Competitive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Analysis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77840" y="2633472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</a:rPr>
              <a:t>Brand vs. Competition SOV + threat index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806440" y="3566160"/>
            <a:ext cx="987552" cy="237744"/>
          </a:xfrm>
          <a:prstGeom prst="rect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06440" y="356616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7316"/>
                </a:solidFill>
              </a:rPr>
              <a:t>LIVE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223760" y="1371600"/>
            <a:ext cx="1627632" cy="2560320"/>
          </a:xfrm>
          <a:prstGeom prst="rect">
            <a:avLst/>
          </a:prstGeom>
          <a:solidFill>
            <a:srgbClr val="1F2937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23760" y="1371600"/>
            <a:ext cx="1627632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0" y="15544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315200" y="205740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Keyword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Explorer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0" y="2633472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</a:rPr>
              <a:t>Search 2,939 keywords + intent classification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543800" y="3566160"/>
            <a:ext cx="987552" cy="237744"/>
          </a:xfrm>
          <a:prstGeom prst="rect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43800" y="356616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8A6"/>
                </a:solidFill>
              </a:rPr>
              <a:t>LIVE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CA3AF"/>
                </a:solidFill>
              </a:rPr>
              <a:t>Built with Python · Streamlit · Plotly  |  Fully Interactive · Filter by Date, Theme, Sub-type  |  CSV Export Available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017520" y="4919472"/>
            <a:ext cx="3108960" cy="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1DB954">
              <a:alpha val="8000"/>
            </a:srgbClr>
          </a:solidFill>
          <a:ln w="6350">
            <a:solidFill>
              <a:srgbClr val="1DB9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371600"/>
            <a:ext cx="4572000" cy="4572000"/>
          </a:xfrm>
          <a:prstGeom prst="ellipse">
            <a:avLst/>
          </a:prstGeom>
          <a:solidFill>
            <a:srgbClr val="3B82F6">
              <a:alpha val="6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DB954"/>
                </a:solidFill>
              </a:rPr>
              <a:t>StreamSignal  ·  Spotify Keyword Search Intelligence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2816352"/>
            <a:ext cx="2743200" cy="27432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063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CA3AF"/>
                </a:solidFill>
              </a:rPr>
              <a:t>🌐 Dashboard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0" y="30632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</a:rPr>
              <a:t>streamsignal-spotify-search-intelligence.streamlit.app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474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CA3AF"/>
                </a:solidFill>
              </a:rPr>
              <a:t>📊 Dataset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0" y="3474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</a:rPr>
              <a:t>2,939 Keywords · 48 Months · Jan 2022 – Dec 2025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CA3AF"/>
                </a:solidFill>
              </a:rPr>
              <a:t>📁 Themes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0" y="38862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</a:rPr>
              <a:t>Brand (1,067) · Category (1,656) · Competition (216)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CA3AF"/>
                </a:solidFill>
              </a:rPr>
              <a:t>Analysis prepared for Music Streaming App Recruitment Assignment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0" y="5084064"/>
            <a:ext cx="9144000" cy="5486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1243</Words>
  <Application>Microsoft Office PowerPoint</Application>
  <PresentationFormat>On-screen Show (16:9)</PresentationFormat>
  <Paragraphs>251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StreamSignal — Spotify Search Intelligence</dc:title>
  <dc:subject>PptxGenJS Presentation</dc:subject>
  <dc:creator>PptxGenJS</dc:creator>
  <cp:lastModifiedBy>Ankit .</cp:lastModifiedBy>
  <cp:revision>2</cp:revision>
  <dcterms:created xsi:type="dcterms:W3CDTF">2026-02-25T03:45:12Z</dcterms:created>
  <dcterms:modified xsi:type="dcterms:W3CDTF">2026-02-25T04:09:22Z</dcterms:modified>
</cp:coreProperties>
</file>